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66" r:id="rId5"/>
    <p:sldId id="259" r:id="rId6"/>
    <p:sldId id="265" r:id="rId7"/>
    <p:sldId id="268" r:id="rId8"/>
    <p:sldId id="267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altLang="en-US" dirty="0"/>
              <a:t>SYRIA TEL COMMUNICATION CHURN PREDICTION</a:t>
            </a:r>
            <a:endParaRPr lang="en-GB" altLang="en-US" dirty="0"/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p>
            <a:r>
              <a:rPr lang="en-GB" altLang="en-US"/>
              <a:t>BY KEVIN KISENGU</a:t>
            </a:r>
            <a:endParaRPr lang="en-GB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GB" altLang="en-US"/>
              <a:t>GOAL</a:t>
            </a:r>
            <a:endParaRPr lang="en-GB" altLang="en-US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en-US"/>
              <a:t>Project Goal: Predict customer churn to enable proactive retention strategies</a:t>
            </a:r>
            <a:endParaRPr lang="en-US" altLang="en-US"/>
          </a:p>
          <a:p>
            <a:endParaRPr lang="en-US" altLang="en-US"/>
          </a:p>
          <a:p>
            <a:r>
              <a:rPr lang="en-US" altLang="en-US"/>
              <a:t>Tools: Python, Pandas, Scikit-learn, SMOTE, Matplotlib</a:t>
            </a:r>
            <a:endParaRPr lang="en-US" altLang="en-US"/>
          </a:p>
          <a:p>
            <a:endParaRPr lang="en-US" altLang="en-US"/>
          </a:p>
          <a:p>
            <a:r>
              <a:rPr lang="en-US" altLang="en-US"/>
              <a:t>Target Audience: Telecom business managers</a:t>
            </a:r>
            <a:endParaRPr lang="en-US" altLang="en-US"/>
          </a:p>
          <a:p>
            <a:endParaRPr lang="en-US" altLang="en-US"/>
          </a:p>
          <a:p>
            <a:endParaRPr lang="en-US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GB" altLang="en-US"/>
              <a:t>PROJECT OVERVIEW</a:t>
            </a:r>
            <a:endParaRPr lang="en-GB" altLang="en-US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p>
            <a:r>
              <a:rPr lang="en-GB" altLang="en-US"/>
              <a:t>we want to identify “at-risk” customers before they leave since every customer who leaves costs syriatel money.</a:t>
            </a:r>
            <a:endParaRPr lang="en-GB" altLang="en-US"/>
          </a:p>
          <a:p>
            <a:r>
              <a:rPr lang="en-GB" altLang="en-US"/>
              <a:t>This can be achieved by pondering the question, “Are there any predictable patterns in customer behaviour?”</a:t>
            </a:r>
            <a:endParaRPr lang="en-GB" altLang="en-US"/>
          </a:p>
          <a:p>
            <a:pPr marL="0" indent="0">
              <a:buNone/>
            </a:pPr>
            <a:endParaRPr lang="en-US" altLang="en-US"/>
          </a:p>
          <a:p>
            <a:pPr marL="0" indent="0">
              <a:buNone/>
            </a:pPr>
            <a:r>
              <a:rPr lang="en-US" altLang="en-US"/>
              <a:t> </a:t>
            </a:r>
            <a:r>
              <a:rPr lang="en-GB" altLang="en-US"/>
              <a:t>  </a:t>
            </a:r>
            <a:endParaRPr lang="en-US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GB" altLang="en-US"/>
              <a:t>DATA ANALYSIS/APPROACH</a:t>
            </a:r>
            <a:endParaRPr lang="en-GB" altLang="en-US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fontScale="90000"/>
          </a:bodyPr>
          <a:p>
            <a:pPr marL="0" indent="0">
              <a:buNone/>
            </a:pPr>
            <a:r>
              <a:rPr lang="en-GB" altLang="en-US"/>
              <a:t>.Data cleaning and preprocessing of customer data</a:t>
            </a:r>
            <a:endParaRPr lang="en-GB" altLang="en-US"/>
          </a:p>
          <a:p>
            <a:pPr marL="0" indent="0">
              <a:buNone/>
            </a:pPr>
            <a:r>
              <a:rPr lang="en-GB" altLang="en-US"/>
              <a:t>.Handling class imbalance using SMOTE</a:t>
            </a:r>
            <a:endParaRPr lang="en-GB" altLang="en-US"/>
          </a:p>
          <a:p>
            <a:r>
              <a:rPr lang="en-GB" altLang="en-US"/>
              <a:t>We Built two different prediction models using the syriatel churn dataset</a:t>
            </a:r>
            <a:endParaRPr lang="en-GB" altLang="en-US"/>
          </a:p>
          <a:p>
            <a:pPr marL="0" indent="0">
              <a:buNone/>
            </a:pPr>
            <a:r>
              <a:rPr lang="en-GB" altLang="en-US"/>
              <a:t>  (LOGISTIC REGRESSION and DECISION TREE)</a:t>
            </a:r>
            <a:endParaRPr lang="en-GB" altLang="en-US"/>
          </a:p>
          <a:p>
            <a:r>
              <a:rPr lang="en-GB" altLang="en-US"/>
              <a:t>Trained on 80% of customers and tested on the remaining 20%.</a:t>
            </a:r>
            <a:endParaRPr lang="en-GB" altLang="en-US"/>
          </a:p>
          <a:p>
            <a:pPr marL="0" indent="0">
              <a:buNone/>
            </a:pPr>
            <a:r>
              <a:rPr lang="en-GB" altLang="en-US"/>
              <a:t>   KEYWORDS</a:t>
            </a:r>
            <a:endParaRPr lang="en-GB" altLang="en-US"/>
          </a:p>
          <a:p>
            <a:r>
              <a:rPr lang="en-GB" altLang="en-US"/>
              <a:t>roc-auc - a measure of how well the model seperates leavers from stayers.</a:t>
            </a:r>
            <a:endParaRPr lang="en-GB" altLang="en-US"/>
          </a:p>
          <a:p>
            <a:r>
              <a:rPr lang="en-GB" altLang="en-US"/>
              <a:t>recall - of all customers who actually left,how many did we catch?</a:t>
            </a:r>
            <a:endParaRPr lang="en-GB" altLang="en-US"/>
          </a:p>
          <a:p>
            <a:r>
              <a:rPr lang="en-GB" altLang="en-US"/>
              <a:t>precision - of customers flagged as “high risk” , how many actually left?</a:t>
            </a:r>
            <a:endParaRPr lang="en-GB" altLang="en-US"/>
          </a:p>
          <a:p>
            <a:endParaRPr lang="en-GB" altLang="en-US"/>
          </a:p>
          <a:p>
            <a:endParaRPr lang="en-GB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en-GB" altLang="en-US"/>
              <a:t>EDA 1 BY CUSTOMER SERVICE PLANS</a:t>
            </a:r>
            <a:endParaRPr lang="en-GB" altLang="en-US"/>
          </a:p>
        </p:txBody>
      </p:sp>
      <p:pic>
        <p:nvPicPr>
          <p:cNvPr id="5" name="Content Placeholder 4" descr="customer service calls vs churn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648970" y="1892935"/>
            <a:ext cx="11258550" cy="435800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en-GB" altLang="en-US"/>
              <a:t>EDA 1 BY CUSTOMER SERVICE PLANS: cont</a:t>
            </a:r>
            <a:endParaRPr lang="en-GB" altLang="en-US"/>
          </a:p>
        </p:txBody>
      </p:sp>
      <p:sp>
        <p:nvSpPr>
          <p:cNvPr id="3" name="Content Placeholder 2"/>
          <p:cNvSpPr/>
          <p:nvPr>
            <p:ph idx="1"/>
          </p:nvPr>
        </p:nvSpPr>
        <p:spPr/>
        <p:txBody>
          <a:bodyPr/>
          <a:p>
            <a:r>
              <a:rPr lang="en-US" altLang="en-US"/>
              <a:t>Interpretation: Customers with an international plan churn at nearly 3x the rate of those without.</a:t>
            </a:r>
            <a:endParaRPr lang="en-US" altLang="en-US"/>
          </a:p>
          <a:p>
            <a:endParaRPr lang="en-US" altLang="en-US"/>
          </a:p>
          <a:p>
            <a:r>
              <a:rPr lang="en-US" altLang="en-US"/>
              <a:t>Customers without a voicemail plan churn more than twice as often, suggesting voicemail may increase engagement and loyalty.</a:t>
            </a:r>
            <a:endParaRPr lang="en-US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en-GB" altLang="en-US"/>
              <a:t>EDA 2. CHURN RATE BY INTERNATIONAL PLAN</a:t>
            </a:r>
            <a:endParaRPr lang="en-GB" altLang="en-US"/>
          </a:p>
        </p:txBody>
      </p:sp>
      <p:pic>
        <p:nvPicPr>
          <p:cNvPr id="5" name="Content Placeholder 4" descr="plan vs churn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723265" y="1258570"/>
            <a:ext cx="9876790" cy="51549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GB" altLang="en-US"/>
              <a:t>BUSINESS FINDINGS</a:t>
            </a:r>
            <a:endParaRPr lang="en-GB" altLang="en-US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GB" altLang="en-US"/>
              <a:t>we found factors that increase churn risk:</a:t>
            </a:r>
            <a:endParaRPr lang="en-GB" altLang="en-US"/>
          </a:p>
          <a:p>
            <a:r>
              <a:rPr lang="en-GB" altLang="en-US"/>
              <a:t>1. high number of customer service calls (greater than 3) = risk</a:t>
            </a:r>
            <a:endParaRPr lang="en-GB" altLang="en-US"/>
          </a:p>
          <a:p>
            <a:r>
              <a:rPr lang="en-GB" altLang="en-US"/>
              <a:t>2. high daytime charges meant customers felt overcharged</a:t>
            </a:r>
            <a:endParaRPr lang="en-GB" altLang="en-US"/>
          </a:p>
          <a:p>
            <a:r>
              <a:rPr lang="en-GB" altLang="en-US"/>
              <a:t>3. having an international plan</a:t>
            </a:r>
            <a:endParaRPr lang="en-GB" altLang="en-US"/>
          </a:p>
          <a:p>
            <a:r>
              <a:rPr lang="en-GB" altLang="en-US"/>
              <a:t>we also found factors that reduce churn risk</a:t>
            </a:r>
            <a:endParaRPr lang="en-GB" altLang="en-US"/>
          </a:p>
          <a:p>
            <a:r>
              <a:rPr lang="en-GB" altLang="en-US"/>
              <a:t>1. having a voicemail plan</a:t>
            </a:r>
            <a:endParaRPr lang="en-GB" altLang="en-US"/>
          </a:p>
          <a:p>
            <a:r>
              <a:rPr lang="en-GB" altLang="en-US"/>
              <a:t>2.higher evening usage</a:t>
            </a:r>
            <a:endParaRPr lang="en-GB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GB" altLang="en-US"/>
              <a:t>BUSINESS FINDINGS:cont</a:t>
            </a:r>
            <a:endParaRPr lang="en-GB" altLang="en-US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GB" altLang="en-US"/>
              <a:t>Both models work well, but logistic regression is more reliable for daily predictions since it correctly identifies 8/10 customers who will churn and gives accurate risk scores making it more robust for daily use in comparison to its decision tree counter-part.</a:t>
            </a:r>
            <a:endParaRPr lang="en-GB" altLang="en-US"/>
          </a:p>
          <a:p>
            <a:endParaRPr lang="en-GB" altLang="en-US"/>
          </a:p>
          <a:p>
            <a:pPr marL="0" indent="0">
              <a:buNone/>
            </a:pPr>
            <a:endParaRPr lang="en-GB" altLang="en-US"/>
          </a:p>
        </p:txBody>
      </p:sp>
      <p:pic>
        <p:nvPicPr>
          <p:cNvPr id="2" name="Picture 1" descr="confusion matrix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5975" y="3535680"/>
            <a:ext cx="7686040" cy="29813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GB" altLang="en-US"/>
              <a:t>BUSINESS RECOMMENDATIONS</a:t>
            </a:r>
            <a:endParaRPr lang="en-GB" altLang="en-US"/>
          </a:p>
        </p:txBody>
      </p:sp>
      <p:graphicFrame>
        <p:nvGraphicFramePr>
          <p:cNvPr id="7" name="Content Placeholder 6"/>
          <p:cNvGraphicFramePr/>
          <p:nvPr>
            <p:ph idx="1"/>
            <p:custDataLst>
              <p:tags r:id="rId1"/>
            </p:custDataLst>
          </p:nvPr>
        </p:nvGraphicFramePr>
        <p:xfrm>
          <a:off x="838200" y="1825625"/>
          <a:ext cx="10515600" cy="51428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734695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  <a:tr h="734695">
                <a:tc>
                  <a:txBody>
                    <a:bodyPr/>
                    <a:p>
                      <a:pPr>
                        <a:buNone/>
                      </a:pPr>
                      <a:r>
                        <a:rPr lang="en-GB" altLang="en-US"/>
                        <a:t>ACTION</a:t>
                      </a:r>
                      <a:endParaRPr lang="en-GB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GB" altLang="en-US"/>
                        <a:t>TARGET</a:t>
                      </a:r>
                      <a:endParaRPr lang="en-GB" altLang="en-US"/>
                    </a:p>
                  </a:txBody>
                  <a:tcPr/>
                </a:tc>
              </a:tr>
              <a:tr h="734695">
                <a:tc>
                  <a:txBody>
                    <a:bodyPr/>
                    <a:p>
                      <a:pPr>
                        <a:buNone/>
                      </a:pPr>
                      <a:r>
                        <a:rPr lang="en-GB" altLang="en-US"/>
                        <a:t>call retention team</a:t>
                      </a:r>
                      <a:endParaRPr lang="en-GB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GB" altLang="en-US"/>
                        <a:t>customers with more than 3 service calls in a month</a:t>
                      </a:r>
                      <a:endParaRPr lang="en-GB" altLang="en-US"/>
                    </a:p>
                  </a:txBody>
                  <a:tcPr/>
                </a:tc>
              </a:tr>
              <a:tr h="734695">
                <a:tc>
                  <a:txBody>
                    <a:bodyPr/>
                    <a:p>
                      <a:pPr>
                        <a:buNone/>
                      </a:pPr>
                      <a:r>
                        <a:rPr lang="en-GB" altLang="en-US"/>
                        <a:t>weekly risk report</a:t>
                      </a:r>
                      <a:endParaRPr lang="en-GB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GB" altLang="en-US"/>
                        <a:t>all active customers scored by the logistic regression model(immediate outreach)</a:t>
                      </a:r>
                      <a:endParaRPr lang="en-GB" altLang="en-US"/>
                    </a:p>
                  </a:txBody>
                  <a:tcPr/>
                </a:tc>
              </a:tr>
              <a:tr h="734695"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GB" altLang="en-US"/>
              <a:t>NEXT STEPS</a:t>
            </a:r>
            <a:endParaRPr lang="en-GB" altLang="en-US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GB" altLang="en-US"/>
              <a:t>A simple dashboard should be created to update churn risk on a weekly basis(excel would suffice)</a:t>
            </a:r>
            <a:endParaRPr lang="en-GB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828*347"/>
  <p:tag name="TABLE_ENDDRAG_RECT" val="66*143*828*347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2199</Words>
  <Application>WPS Presentation</Application>
  <PresentationFormat>Widescreen</PresentationFormat>
  <Paragraphs>79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9" baseType="lpstr">
      <vt:lpstr>Arial</vt:lpstr>
      <vt:lpstr>SimSun</vt:lpstr>
      <vt:lpstr>Wingdings</vt:lpstr>
      <vt:lpstr>Calibri Light</vt:lpstr>
      <vt:lpstr>Calibri</vt:lpstr>
      <vt:lpstr>Microsoft YaHei</vt:lpstr>
      <vt:lpstr>Arial Unicode MS</vt:lpstr>
      <vt:lpstr>Office Theme</vt:lpstr>
      <vt:lpstr>SYRIA TEL COMMUNICATION CHURN PREDICTION</vt:lpstr>
      <vt:lpstr>BUSINESS PROBLEM</vt:lpstr>
      <vt:lpstr>BUSINESS PROBLEM</vt:lpstr>
      <vt:lpstr>DATA ANALYSIS/APPROACH</vt:lpstr>
      <vt:lpstr>LOGISTIC REGRESSION</vt:lpstr>
      <vt:lpstr>EDA 1 BY CUSTOMER SERVICE PLANS</vt:lpstr>
      <vt:lpstr>LOGISTIC REGRESSION</vt:lpstr>
      <vt:lpstr>BUSINESS FINDINGS</vt:lpstr>
      <vt:lpstr>BUSINESS FINDINGS:cont</vt:lpstr>
      <vt:lpstr>BUSINESS RECOMMENDATIONS</vt:lpstr>
      <vt:lpstr>NEXT STEPS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/>
  <cp:lastModifiedBy>Admin</cp:lastModifiedBy>
  <cp:revision>8</cp:revision>
  <dcterms:created xsi:type="dcterms:W3CDTF">2025-07-23T00:59:00Z</dcterms:created>
  <dcterms:modified xsi:type="dcterms:W3CDTF">2026-05-04T14:30:49Z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0EB3EAF271D9471397ECC9E562AD5817_13</vt:lpwstr>
  </property>
  <property fmtid="{D5CDD505-2E9C-101B-9397-08002B2CF9AE}" pid="3" name="KSOProductBuildVer">
    <vt:lpwstr>1033-12.1.0.25242</vt:lpwstr>
  </property>
</Properties>
</file>